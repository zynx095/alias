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ghuvamshi gowda" initials="Rg" lastIdx="1" clrIdx="0">
    <p:extLst>
      <p:ext uri="{19B8F6BF-5375-455C-9EA6-DF929625EA0E}">
        <p15:presenceInfo xmlns:p15="http://schemas.microsoft.com/office/powerpoint/2012/main" userId="9f2937f3741f0e2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commentAuthors" Target="commentAuthors.xml" /><Relationship Id="rId4" Type="http://schemas.openxmlformats.org/officeDocument/2006/relationships/slide" Target="slides/slide3.xml" /><Relationship Id="rId9" Type="http://schemas.openxmlformats.org/officeDocument/2006/relationships/notesMaster" Target="notesMasters/notesMaster1.xml" /><Relationship Id="rId14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D1B7BF-AB8B-3445-BE56-1F227166CD7D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015FFB-B2CC-4C46-BE7B-ADC7B81B4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874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Title slide. Fill in the problem statement details and team details exactly as registered.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Points, not paragraphs. Add a screenshot or sketch if it helps sell the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Judges want to see the pipeline. A clear diagram beats three bullet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 honest about risk. A team that names its blockers and a fallback scores higher than one that pretends there are none.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Quantify wherever you can. Estimates with a stated assumption beat vague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Cite properly. Uncredited work is the fastest way to lose a shortlisting slot.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Delete this slide before submitting your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" y="230040"/>
            <a:ext cx="2368317" cy="69147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2668" y="183138"/>
            <a:ext cx="2315262" cy="738381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30673" y="11430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30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HACKATHON  ·  23 SEPTEMBER 2026  ·  NVIDIA AI LAB</a:t>
            </a:r>
            <a:endParaRPr lang="en-US" sz="1200"/>
          </a:p>
        </p:txBody>
      </p:sp>
      <p:sp>
        <p:nvSpPr>
          <p:cNvPr id="5" name="Text 1"/>
          <p:cNvSpPr txBox="1"/>
          <p:nvPr/>
        </p:nvSpPr>
        <p:spPr>
          <a:xfrm>
            <a:off x="457200" y="1528283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200">
                <a:solidFill>
                  <a:srgbClr val="E9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× AI</a:t>
            </a:r>
            <a:endParaRPr lang="en-US" sz="4800"/>
          </a:p>
        </p:txBody>
      </p:sp>
      <p:sp>
        <p:nvSpPr>
          <p:cNvPr id="6" name="Text 2"/>
          <p:cNvSpPr txBox="1"/>
          <p:nvPr/>
        </p:nvSpPr>
        <p:spPr>
          <a:xfrm>
            <a:off x="91440" y="2427524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200">
                <a:solidFill>
                  <a:srgbClr val="35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MISSION 2026  —  IDEA SUBMISSION</a:t>
            </a:r>
            <a:endParaRPr lang="en-US" sz="1400"/>
          </a:p>
        </p:txBody>
      </p:sp>
      <p:sp>
        <p:nvSpPr>
          <p:cNvPr id="7" name="Shape 3"/>
          <p:cNvSpPr/>
          <p:nvPr/>
        </p:nvSpPr>
        <p:spPr>
          <a:xfrm>
            <a:off x="670560" y="3200400"/>
            <a:ext cx="5079321" cy="2697480"/>
          </a:xfrm>
          <a:prstGeom prst="roundRect">
            <a:avLst>
              <a:gd name="adj" fmla="val 2034"/>
            </a:avLst>
          </a:prstGeom>
          <a:solidFill>
            <a:srgbClr val="121C30"/>
          </a:solidFill>
          <a:ln w="12700">
            <a:solidFill>
              <a:srgbClr val="27364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172200" y="3017520"/>
            <a:ext cx="5440680" cy="2697480"/>
          </a:xfrm>
          <a:prstGeom prst="roundRect">
            <a:avLst>
              <a:gd name="adj" fmla="val 2034"/>
            </a:avLst>
          </a:prstGeom>
          <a:solidFill>
            <a:srgbClr val="121C30"/>
          </a:solidFill>
          <a:ln w="12700">
            <a:solidFill>
              <a:srgbClr val="27364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14400" y="329184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35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</a:t>
            </a:r>
            <a:r>
              <a:rPr lang="en-GB" sz="1100" b="1" kern="0" spc="100">
                <a:solidFill>
                  <a:srgbClr val="35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</a:t>
            </a:r>
            <a:endParaRPr lang="en-US" sz="1100"/>
          </a:p>
        </p:txBody>
      </p:sp>
      <p:sp>
        <p:nvSpPr>
          <p:cNvPr id="11" name="Text 7"/>
          <p:cNvSpPr txBox="1"/>
          <p:nvPr/>
        </p:nvSpPr>
        <p:spPr>
          <a:xfrm>
            <a:off x="914400" y="4069080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35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</a:t>
            </a:r>
            <a:endParaRPr lang="en-US" sz="1100"/>
          </a:p>
        </p:txBody>
      </p:sp>
      <p:sp>
        <p:nvSpPr>
          <p:cNvPr id="13" name="Text 9"/>
          <p:cNvSpPr txBox="1"/>
          <p:nvPr/>
        </p:nvSpPr>
        <p:spPr>
          <a:xfrm>
            <a:off x="914400" y="4846320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35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/ THEME</a:t>
            </a:r>
            <a:endParaRPr lang="en-US" sz="1100"/>
          </a:p>
        </p:txBody>
      </p:sp>
      <p:sp>
        <p:nvSpPr>
          <p:cNvPr id="14" name="Shape 10"/>
          <p:cNvSpPr/>
          <p:nvPr/>
        </p:nvSpPr>
        <p:spPr>
          <a:xfrm>
            <a:off x="914400" y="5093208"/>
            <a:ext cx="4709160" cy="384048"/>
          </a:xfrm>
          <a:prstGeom prst="roundRect">
            <a:avLst>
              <a:gd name="adj" fmla="val 11905"/>
            </a:avLst>
          </a:prstGeom>
          <a:solidFill>
            <a:srgbClr val="18253D"/>
          </a:solidFill>
          <a:ln w="12700">
            <a:solidFill>
              <a:srgbClr val="27364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537960" y="3291840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35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100"/>
          </a:p>
        </p:txBody>
      </p:sp>
      <p:sp>
        <p:nvSpPr>
          <p:cNvPr id="16" name="Shape 12"/>
          <p:cNvSpPr/>
          <p:nvPr/>
        </p:nvSpPr>
        <p:spPr>
          <a:xfrm>
            <a:off x="6537960" y="3538728"/>
            <a:ext cx="4709160" cy="384048"/>
          </a:xfrm>
          <a:prstGeom prst="roundRect">
            <a:avLst>
              <a:gd name="adj" fmla="val 11905"/>
            </a:avLst>
          </a:prstGeom>
          <a:solidFill>
            <a:srgbClr val="18253D"/>
          </a:solidFill>
          <a:ln w="12700">
            <a:solidFill>
              <a:srgbClr val="27364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537960" y="4069080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35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 </a:t>
            </a:r>
            <a:r>
              <a:rPr lang="en-GB" sz="1100" b="1" kern="0" spc="100">
                <a:solidFill>
                  <a:srgbClr val="35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(4-Max)</a:t>
            </a:r>
            <a:endParaRPr lang="en-US" sz="1100"/>
          </a:p>
        </p:txBody>
      </p:sp>
      <p:sp>
        <p:nvSpPr>
          <p:cNvPr id="18" name="Shape 14"/>
          <p:cNvSpPr/>
          <p:nvPr/>
        </p:nvSpPr>
        <p:spPr>
          <a:xfrm>
            <a:off x="6537960" y="4315968"/>
            <a:ext cx="4709160" cy="384048"/>
          </a:xfrm>
          <a:prstGeom prst="roundRect">
            <a:avLst>
              <a:gd name="adj" fmla="val 11905"/>
            </a:avLst>
          </a:prstGeom>
          <a:solidFill>
            <a:srgbClr val="18253D"/>
          </a:solidFill>
          <a:ln w="12700">
            <a:solidFill>
              <a:srgbClr val="27364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537960" y="4846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100" b="1" kern="0" spc="100">
                <a:solidFill>
                  <a:srgbClr val="35D6F0"/>
                </a:solidFill>
                <a:latin typeface="Calibri" pitchFamily="34" charset="0"/>
              </a:rPr>
              <a:t>SCHOOL</a:t>
            </a:r>
            <a:endParaRPr lang="en-US" sz="1100"/>
          </a:p>
        </p:txBody>
      </p:sp>
      <p:sp>
        <p:nvSpPr>
          <p:cNvPr id="20" name="Shape 16"/>
          <p:cNvSpPr/>
          <p:nvPr/>
        </p:nvSpPr>
        <p:spPr>
          <a:xfrm>
            <a:off x="6537960" y="5093208"/>
            <a:ext cx="2194560" cy="384048"/>
          </a:xfrm>
          <a:prstGeom prst="roundRect">
            <a:avLst>
              <a:gd name="adj" fmla="val 11905"/>
            </a:avLst>
          </a:prstGeom>
          <a:solidFill>
            <a:srgbClr val="18253D"/>
          </a:solidFill>
          <a:ln w="12700">
            <a:solidFill>
              <a:srgbClr val="27364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052560" y="4846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100" b="1" kern="0" spc="100">
                <a:solidFill>
                  <a:srgbClr val="35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 </a:t>
            </a:r>
            <a:r>
              <a:rPr lang="en-US" sz="1100" b="1" kern="0" spc="100">
                <a:solidFill>
                  <a:srgbClr val="35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100"/>
          </a:p>
        </p:txBody>
      </p:sp>
      <p:sp>
        <p:nvSpPr>
          <p:cNvPr id="22" name="Shape 18"/>
          <p:cNvSpPr/>
          <p:nvPr/>
        </p:nvSpPr>
        <p:spPr>
          <a:xfrm>
            <a:off x="9052560" y="5093208"/>
            <a:ext cx="2194560" cy="384048"/>
          </a:xfrm>
          <a:prstGeom prst="roundRect">
            <a:avLst>
              <a:gd name="adj" fmla="val 11905"/>
            </a:avLst>
          </a:prstGeom>
          <a:solidFill>
            <a:srgbClr val="18253D"/>
          </a:solidFill>
          <a:ln w="12700">
            <a:solidFill>
              <a:srgbClr val="27364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48640" y="5897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i="1">
              <a:solidFill>
                <a:srgbClr val="6E82A0"/>
              </a:solidFill>
              <a:ea typeface="Calibri"/>
              <a:cs typeface="Calibri"/>
            </a:endParaRPr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97F3A562-76F6-9EDF-D24B-04A8571EC79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44880" y="4394230"/>
            <a:ext cx="4678680" cy="356286"/>
          </a:xfrm>
          <a:prstGeom prst="roundRect">
            <a:avLst>
              <a:gd name="adj" fmla="val 11905"/>
            </a:avLst>
          </a:prstGeom>
          <a:solidFill>
            <a:srgbClr val="18253D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EB2B3362-5475-1DA6-8353-8633E846C03C}"/>
              </a:ext>
            </a:extLst>
          </p:cNvPr>
          <p:cNvSpPr/>
          <p:nvPr/>
        </p:nvSpPr>
        <p:spPr>
          <a:xfrm>
            <a:off x="914400" y="3678186"/>
            <a:ext cx="4709160" cy="384048"/>
          </a:xfrm>
          <a:prstGeom prst="roundRect">
            <a:avLst>
              <a:gd name="adj" fmla="val 11905"/>
            </a:avLst>
          </a:prstGeom>
          <a:solidFill>
            <a:srgbClr val="18253D"/>
          </a:solidFill>
          <a:ln w="12700">
            <a:solidFill>
              <a:srgbClr val="27364F"/>
            </a:solidFill>
            <a:prstDash val="solid"/>
          </a:ln>
        </p:spPr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44C3F7-FD5D-D7E0-F77E-E3FD0E7126EE}"/>
              </a:ext>
            </a:extLst>
          </p:cNvPr>
          <p:cNvSpPr txBox="1"/>
          <p:nvPr/>
        </p:nvSpPr>
        <p:spPr>
          <a:xfrm>
            <a:off x="5182618" y="251460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C6510F-D138-A56F-BDD6-3FA68C2FF9C6}"/>
              </a:ext>
            </a:extLst>
          </p:cNvPr>
          <p:cNvSpPr txBox="1"/>
          <p:nvPr/>
        </p:nvSpPr>
        <p:spPr>
          <a:xfrm>
            <a:off x="855723" y="3667702"/>
            <a:ext cx="489415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US">
                <a:solidFill>
                  <a:schemeClr val="bg2"/>
                </a:solidFill>
                <a:latin typeface="Bookman Old Style"/>
                <a:ea typeface="Calibri"/>
                <a:cs typeface="Calibri"/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D831DF-AE66-EEB5-F58C-D3CC8F3257D9}"/>
              </a:ext>
            </a:extLst>
          </p:cNvPr>
          <p:cNvSpPr txBox="1"/>
          <p:nvPr/>
        </p:nvSpPr>
        <p:spPr>
          <a:xfrm>
            <a:off x="5182618" y="251460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30E04D1-E645-3017-FB5E-2E5769BC35CF}"/>
              </a:ext>
            </a:extLst>
          </p:cNvPr>
          <p:cNvSpPr txBox="1"/>
          <p:nvPr/>
        </p:nvSpPr>
        <p:spPr>
          <a:xfrm>
            <a:off x="952395" y="4391320"/>
            <a:ext cx="4659667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Aptos Display"/>
                <a:ea typeface="Calibri" panose="020F0502020204030204"/>
                <a:cs typeface="Calibri" panose="020F0502020204030204"/>
              </a:rPr>
              <a:t>PHISHING LINK AND MESSAGES ANALYZER</a:t>
            </a:r>
          </a:p>
          <a:p>
            <a:r>
              <a:rPr lang="en-US">
                <a:ea typeface="Calibri"/>
                <a:cs typeface="Calibri"/>
              </a:rPr>
              <a:t>    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25EB1B-961C-BED9-1EE3-201B8F22A383}"/>
              </a:ext>
            </a:extLst>
          </p:cNvPr>
          <p:cNvSpPr txBox="1"/>
          <p:nvPr/>
        </p:nvSpPr>
        <p:spPr>
          <a:xfrm>
            <a:off x="6552428" y="3514230"/>
            <a:ext cx="467630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FF00"/>
                </a:solidFill>
                <a:latin typeface="Franklin Gothic"/>
                <a:ea typeface="Calibri"/>
                <a:cs typeface="Calibri"/>
              </a:rPr>
              <a:t>CODE HUNTERS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D9F9C0-3E95-8A3A-F8B7-6EEE1B0E4319}"/>
              </a:ext>
            </a:extLst>
          </p:cNvPr>
          <p:cNvSpPr txBox="1"/>
          <p:nvPr/>
        </p:nvSpPr>
        <p:spPr>
          <a:xfrm>
            <a:off x="6636434" y="4284280"/>
            <a:ext cx="4536296" cy="3780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92D050"/>
                </a:solidFill>
                <a:latin typeface="Sylfaen"/>
                <a:ea typeface="Calibri"/>
                <a:cs typeface="Calibri"/>
              </a:rPr>
              <a:t>Sathwik ,  Santhosh,  Kiran,  Priyanka</a:t>
            </a:r>
            <a:endParaRPr lang="en-US">
              <a:solidFill>
                <a:srgbClr val="92D050"/>
              </a:solidFill>
              <a:latin typeface="Sylfaen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1092EC-3A38-4A0A-0535-2B39047E7311}"/>
              </a:ext>
            </a:extLst>
          </p:cNvPr>
          <p:cNvSpPr txBox="1"/>
          <p:nvPr/>
        </p:nvSpPr>
        <p:spPr>
          <a:xfrm>
            <a:off x="6552678" y="5103708"/>
            <a:ext cx="2202670" cy="3803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Rockwell"/>
                <a:ea typeface="Calibri"/>
                <a:cs typeface="Calibri"/>
              </a:rPr>
              <a:t>PSAIAC</a:t>
            </a:r>
            <a:endParaRPr lang="en-US">
              <a:solidFill>
                <a:schemeClr val="bg1"/>
              </a:solidFill>
              <a:latin typeface="Rockwell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509751-3123-386A-140F-0595A0F9266C}"/>
              </a:ext>
            </a:extLst>
          </p:cNvPr>
          <p:cNvSpPr txBox="1"/>
          <p:nvPr/>
        </p:nvSpPr>
        <p:spPr>
          <a:xfrm>
            <a:off x="9072592" y="5110334"/>
            <a:ext cx="204413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accent1">
                    <a:lumMod val="60000"/>
                    <a:lumOff val="40000"/>
                  </a:schemeClr>
                </a:solidFill>
                <a:ea typeface="Calibri"/>
                <a:cs typeface="Calibri"/>
              </a:rPr>
              <a:t>8618590778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5B08D8-3DA1-9050-8BA0-558E31D38689}"/>
              </a:ext>
            </a:extLst>
          </p:cNvPr>
          <p:cNvSpPr txBox="1"/>
          <p:nvPr/>
        </p:nvSpPr>
        <p:spPr>
          <a:xfrm>
            <a:off x="994065" y="5194339"/>
            <a:ext cx="45642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accent4">
                    <a:lumMod val="40000"/>
                    <a:lumOff val="60000"/>
                  </a:schemeClr>
                </a:solidFill>
                <a:latin typeface="Bookman Old Style"/>
                <a:ea typeface="Calibri"/>
                <a:cs typeface="Calibri"/>
              </a:rPr>
              <a:t>AIML FOR CYBERSECURITY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01752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121C30"/>
          </a:solidFill>
          <a:ln w="12700">
            <a:solidFill>
              <a:srgbClr val="2736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0175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>
                <a:solidFill>
                  <a:schemeClr val="accent2"/>
                </a:solidFill>
                <a:latin typeface="HGPMinchoE"/>
                <a:ea typeface="HGPMinchoE"/>
                <a:cs typeface="Calibri"/>
              </a:rPr>
              <a:t>CODE</a:t>
            </a:r>
            <a:r>
              <a:rPr lang="en-US">
                <a:solidFill>
                  <a:srgbClr val="FF0000"/>
                </a:solidFill>
                <a:latin typeface="HGPMinchoE"/>
                <a:ea typeface="HGPMinchoE"/>
                <a:cs typeface="Calibri"/>
              </a:rPr>
              <a:t> </a:t>
            </a:r>
            <a:r>
              <a:rPr lang="en-US">
                <a:solidFill>
                  <a:schemeClr val="accent2"/>
                </a:solidFill>
                <a:latin typeface="HGPMinchoE"/>
                <a:ea typeface="HGPMinchoE"/>
                <a:cs typeface="Calibri"/>
              </a:rPr>
              <a:t>HUNTERS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2834640" y="25603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100">
                <a:solidFill>
                  <a:srgbClr val="E9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TITLE</a:t>
            </a:r>
            <a:endParaRPr lang="en-US" sz="28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310896"/>
            <a:ext cx="1417320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>
                <a:solidFill>
                  <a:srgbClr val="6E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× AI  ·  THE DIGITAL MISSION 2026  ·  PRESIDENCY UNIVERSITY × ISACA BANGALORE CHAPTER</a:t>
            </a:r>
            <a:endParaRPr lang="en-US" sz="900"/>
          </a:p>
        </p:txBody>
      </p:sp>
      <p:sp>
        <p:nvSpPr>
          <p:cNvPr id="7" name="Text 4"/>
          <p:cNvSpPr txBox="1"/>
          <p:nvPr/>
        </p:nvSpPr>
        <p:spPr>
          <a:xfrm>
            <a:off x="1115568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35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/>
          </a:p>
        </p:txBody>
      </p:sp>
      <p:sp>
        <p:nvSpPr>
          <p:cNvPr id="8" name="Shape 5"/>
          <p:cNvSpPr/>
          <p:nvPr/>
        </p:nvSpPr>
        <p:spPr>
          <a:xfrm>
            <a:off x="548640" y="105156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121C30"/>
          </a:solidFill>
          <a:ln w="12700">
            <a:solidFill>
              <a:srgbClr val="27364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134560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kern="0" spc="100">
                <a:solidFill>
                  <a:srgbClr val="F2C14E"/>
                </a:solidFill>
                <a:latin typeface="Franklin Gothic"/>
                <a:ea typeface="Calibri"/>
                <a:cs typeface="Calibri"/>
              </a:rPr>
              <a:t>MADE AN APP TO CHECK THAT PHISHING LINKS AND MALICIOUS MESSAGES</a:t>
            </a:r>
          </a:p>
        </p:txBody>
      </p:sp>
      <p:sp>
        <p:nvSpPr>
          <p:cNvPr id="11" name="Shape 8"/>
          <p:cNvSpPr/>
          <p:nvPr/>
        </p:nvSpPr>
        <p:spPr>
          <a:xfrm>
            <a:off x="548640" y="2148840"/>
            <a:ext cx="3520440" cy="2971800"/>
          </a:xfrm>
          <a:prstGeom prst="roundRect">
            <a:avLst>
              <a:gd name="adj" fmla="val 1846"/>
            </a:avLst>
          </a:prstGeom>
          <a:solidFill>
            <a:srgbClr val="121C30"/>
          </a:solidFill>
          <a:ln w="12700">
            <a:solidFill>
              <a:srgbClr val="27364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2423160"/>
            <a:ext cx="384048" cy="384048"/>
          </a:xfrm>
          <a:prstGeom prst="ellipse">
            <a:avLst/>
          </a:prstGeom>
          <a:solidFill>
            <a:srgbClr val="070C18"/>
          </a:solidFill>
          <a:ln w="19050">
            <a:solidFill>
              <a:srgbClr val="35D6F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5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/>
          </a:p>
        </p:txBody>
      </p:sp>
      <p:sp>
        <p:nvSpPr>
          <p:cNvPr id="14" name="Text 11"/>
          <p:cNvSpPr txBox="1"/>
          <p:nvPr/>
        </p:nvSpPr>
        <p:spPr>
          <a:xfrm>
            <a:off x="868680" y="29718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>
                <a:solidFill>
                  <a:srgbClr val="E9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1400"/>
          </a:p>
        </p:txBody>
      </p:sp>
      <p:sp>
        <p:nvSpPr>
          <p:cNvPr id="15" name="Text 12"/>
          <p:cNvSpPr txBox="1"/>
          <p:nvPr/>
        </p:nvSpPr>
        <p:spPr>
          <a:xfrm>
            <a:off x="868680" y="361188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3A7C4"/>
                </a:solidFill>
                <a:latin typeface="Calibri"/>
                <a:ea typeface="Calibri"/>
                <a:cs typeface="Calibri"/>
              </a:rPr>
              <a:t>AI powered app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3A7C4"/>
                </a:solidFill>
                <a:ea typeface="Calibri"/>
                <a:cs typeface="Calibri"/>
              </a:rPr>
              <a:t>Used python code and AI powered website  to create an app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3A7C4"/>
                </a:solidFill>
                <a:ea typeface="Calibri"/>
                <a:cs typeface="Calibri"/>
              </a:rPr>
              <a:t>As an AI student I have used ai to work  in cybersecurity.</a:t>
            </a:r>
          </a:p>
        </p:txBody>
      </p:sp>
      <p:sp>
        <p:nvSpPr>
          <p:cNvPr id="16" name="Shape 13"/>
          <p:cNvSpPr/>
          <p:nvPr/>
        </p:nvSpPr>
        <p:spPr>
          <a:xfrm>
            <a:off x="4343400" y="2148840"/>
            <a:ext cx="3520440" cy="2971800"/>
          </a:xfrm>
          <a:prstGeom prst="roundRect">
            <a:avLst>
              <a:gd name="adj" fmla="val 1846"/>
            </a:avLst>
          </a:prstGeom>
          <a:solidFill>
            <a:srgbClr val="121C30"/>
          </a:solidFill>
          <a:ln w="12700">
            <a:solidFill>
              <a:srgbClr val="27364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63440" y="2423160"/>
            <a:ext cx="384048" cy="384048"/>
          </a:xfrm>
          <a:prstGeom prst="ellipse">
            <a:avLst/>
          </a:prstGeom>
          <a:solidFill>
            <a:srgbClr val="070C18"/>
          </a:solidFill>
          <a:ln w="19050">
            <a:solidFill>
              <a:srgbClr val="35D6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66344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5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/>
          </a:p>
        </p:txBody>
      </p:sp>
      <p:sp>
        <p:nvSpPr>
          <p:cNvPr id="19" name="Text 16"/>
          <p:cNvSpPr txBox="1"/>
          <p:nvPr/>
        </p:nvSpPr>
        <p:spPr>
          <a:xfrm>
            <a:off x="4663440" y="29718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>
                <a:solidFill>
                  <a:srgbClr val="E9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SOLVES THE PROBLEM</a:t>
            </a:r>
            <a:endParaRPr lang="en-US" sz="1400"/>
          </a:p>
        </p:txBody>
      </p:sp>
      <p:sp>
        <p:nvSpPr>
          <p:cNvPr id="20" name="Text 17"/>
          <p:cNvSpPr txBox="1"/>
          <p:nvPr/>
        </p:nvSpPr>
        <p:spPr>
          <a:xfrm>
            <a:off x="4663440" y="361188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300" dirty="0">
                <a:solidFill>
                  <a:srgbClr val="93A7C4"/>
                </a:solidFill>
                <a:ea typeface="+mn-lt"/>
                <a:cs typeface="+mn-lt"/>
              </a:rPr>
              <a:t>Uncovers Hidden Technical Deceptions</a:t>
            </a:r>
            <a:endParaRPr lang="en-US" sz="1300">
              <a:solidFill>
                <a:srgbClr val="93A7C4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3A7C4"/>
                </a:solidFill>
                <a:latin typeface="Calibri"/>
                <a:ea typeface="Calibri"/>
                <a:cs typeface="Calibri"/>
              </a:rPr>
              <a:t>User can copy the doubted message and put on this prototype so that </a:t>
            </a:r>
            <a:r>
              <a:rPr lang="en-US" sz="1300">
                <a:solidFill>
                  <a:srgbClr val="93A7C4"/>
                </a:solidFill>
                <a:latin typeface="Calibri"/>
                <a:ea typeface="Calibri"/>
                <a:cs typeface="Calibri"/>
              </a:rPr>
              <a:t>user can identify the spam easily</a:t>
            </a:r>
            <a:endParaRPr lang="en-US" sz="1300" dirty="0">
              <a:solidFill>
                <a:srgbClr val="93A7C4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300" dirty="0">
              <a:solidFill>
                <a:srgbClr val="93A7C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8138160" y="2148840"/>
            <a:ext cx="3520440" cy="2971800"/>
          </a:xfrm>
          <a:prstGeom prst="roundRect">
            <a:avLst>
              <a:gd name="adj" fmla="val 1846"/>
            </a:avLst>
          </a:prstGeom>
          <a:solidFill>
            <a:srgbClr val="121C30"/>
          </a:solidFill>
          <a:ln w="12700">
            <a:solidFill>
              <a:srgbClr val="27364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458200" y="2423160"/>
            <a:ext cx="384048" cy="384048"/>
          </a:xfrm>
          <a:prstGeom prst="ellipse">
            <a:avLst/>
          </a:prstGeom>
          <a:solidFill>
            <a:srgbClr val="070C18"/>
          </a:solidFill>
          <a:ln w="19050">
            <a:solidFill>
              <a:srgbClr val="F2C14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45820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/>
          </a:p>
        </p:txBody>
      </p:sp>
      <p:sp>
        <p:nvSpPr>
          <p:cNvPr id="24" name="Text 21"/>
          <p:cNvSpPr txBox="1"/>
          <p:nvPr/>
        </p:nvSpPr>
        <p:spPr>
          <a:xfrm>
            <a:off x="8458200" y="29718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>
                <a:solidFill>
                  <a:srgbClr val="E9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IT'S DIFFERENT</a:t>
            </a:r>
            <a:endParaRPr lang="en-US" sz="1400"/>
          </a:p>
        </p:txBody>
      </p:sp>
      <p:sp>
        <p:nvSpPr>
          <p:cNvPr id="25" name="Text 22"/>
          <p:cNvSpPr txBox="1"/>
          <p:nvPr/>
        </p:nvSpPr>
        <p:spPr>
          <a:xfrm>
            <a:off x="8458200" y="361188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existing tools miss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novel angle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edge</a:t>
            </a:r>
            <a:endParaRPr lang="en-US" sz="1300"/>
          </a:p>
        </p:txBody>
      </p:sp>
      <p:sp>
        <p:nvSpPr>
          <p:cNvPr id="26" name="Shape 23"/>
          <p:cNvSpPr/>
          <p:nvPr/>
        </p:nvSpPr>
        <p:spPr>
          <a:xfrm>
            <a:off x="548640" y="5303520"/>
            <a:ext cx="11064240" cy="731520"/>
          </a:xfrm>
          <a:prstGeom prst="roundRect">
            <a:avLst>
              <a:gd name="adj" fmla="val 6250"/>
            </a:avLst>
          </a:prstGeom>
          <a:solidFill>
            <a:srgbClr val="0D1526"/>
          </a:solidFill>
          <a:ln w="12700">
            <a:solidFill>
              <a:srgbClr val="35D6F0"/>
            </a:solidFill>
            <a:prstDash val="dash"/>
          </a:ln>
        </p:spPr>
      </p:sp>
      <p:sp>
        <p:nvSpPr>
          <p:cNvPr id="27" name="Text 24"/>
          <p:cNvSpPr txBox="1"/>
          <p:nvPr/>
        </p:nvSpPr>
        <p:spPr>
          <a:xfrm>
            <a:off x="548640" y="5303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drop a mockup, UI sketch or attack-scenario visual in this strip.</a:t>
            </a:r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01752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121C30"/>
          </a:solidFill>
          <a:ln w="12700">
            <a:solidFill>
              <a:srgbClr val="2736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0175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200"/>
          </a:p>
        </p:txBody>
      </p:sp>
      <p:sp>
        <p:nvSpPr>
          <p:cNvPr id="4" name="Text 2"/>
          <p:cNvSpPr txBox="1"/>
          <p:nvPr/>
        </p:nvSpPr>
        <p:spPr>
          <a:xfrm>
            <a:off x="2834640" y="25603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100">
                <a:solidFill>
                  <a:srgbClr val="E9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28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310896"/>
            <a:ext cx="1417320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>
                <a:solidFill>
                  <a:srgbClr val="6E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× AI  ·  THE DIGITAL MISSION 2026  ·  PRESIDENCY UNIVERSITY × ISACA BANGALORE CHAPTER</a:t>
            </a:r>
            <a:endParaRPr lang="en-US" sz="900"/>
          </a:p>
        </p:txBody>
      </p:sp>
      <p:sp>
        <p:nvSpPr>
          <p:cNvPr id="7" name="Text 4"/>
          <p:cNvSpPr txBox="1"/>
          <p:nvPr/>
        </p:nvSpPr>
        <p:spPr>
          <a:xfrm>
            <a:off x="1115568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35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  <p:sp>
        <p:nvSpPr>
          <p:cNvPr id="8" name="Shape 5"/>
          <p:cNvSpPr/>
          <p:nvPr/>
        </p:nvSpPr>
        <p:spPr>
          <a:xfrm>
            <a:off x="548640" y="1097280"/>
            <a:ext cx="4892040" cy="4937760"/>
          </a:xfrm>
          <a:prstGeom prst="roundRect">
            <a:avLst>
              <a:gd name="adj" fmla="val 1121"/>
            </a:avLst>
          </a:prstGeom>
          <a:solidFill>
            <a:srgbClr val="121C30"/>
          </a:solidFill>
          <a:ln w="12700">
            <a:solidFill>
              <a:srgbClr val="27364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417320"/>
            <a:ext cx="384048" cy="384048"/>
          </a:xfrm>
          <a:prstGeom prst="ellipse">
            <a:avLst/>
          </a:prstGeom>
          <a:solidFill>
            <a:srgbClr val="070C18"/>
          </a:solidFill>
          <a:ln w="19050">
            <a:solidFill>
              <a:srgbClr val="35D6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5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/>
          </a:p>
        </p:txBody>
      </p:sp>
      <p:sp>
        <p:nvSpPr>
          <p:cNvPr id="11" name="Text 8"/>
          <p:cNvSpPr txBox="1"/>
          <p:nvPr/>
        </p:nvSpPr>
        <p:spPr>
          <a:xfrm>
            <a:off x="1371600" y="14447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9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500"/>
          </a:p>
        </p:txBody>
      </p:sp>
      <p:sp>
        <p:nvSpPr>
          <p:cNvPr id="12" name="Text 9"/>
          <p:cNvSpPr txBox="1"/>
          <p:nvPr/>
        </p:nvSpPr>
        <p:spPr>
          <a:xfrm>
            <a:off x="868680" y="20116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and frameworks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models, datasets, APIs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tooling, hardware, cloud</a:t>
            </a:r>
            <a:endParaRPr lang="en-US" sz="1300"/>
          </a:p>
        </p:txBody>
      </p:sp>
      <p:sp>
        <p:nvSpPr>
          <p:cNvPr id="13" name="Shape 10"/>
          <p:cNvSpPr/>
          <p:nvPr/>
        </p:nvSpPr>
        <p:spPr>
          <a:xfrm>
            <a:off x="868680" y="3246120"/>
            <a:ext cx="384048" cy="384048"/>
          </a:xfrm>
          <a:prstGeom prst="ellipse">
            <a:avLst/>
          </a:prstGeom>
          <a:solidFill>
            <a:srgbClr val="070C18"/>
          </a:solidFill>
          <a:ln w="19050">
            <a:solidFill>
              <a:srgbClr val="35D6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868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5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/>
          </a:p>
        </p:txBody>
      </p:sp>
      <p:sp>
        <p:nvSpPr>
          <p:cNvPr id="15" name="Text 12"/>
          <p:cNvSpPr txBox="1"/>
          <p:nvPr/>
        </p:nvSpPr>
        <p:spPr>
          <a:xfrm>
            <a:off x="1371600" y="32735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9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500"/>
          </a:p>
        </p:txBody>
      </p:sp>
      <p:sp>
        <p:nvSpPr>
          <p:cNvPr id="16" name="Text 13"/>
          <p:cNvSpPr txBox="1"/>
          <p:nvPr/>
        </p:nvSpPr>
        <p:spPr>
          <a:xfrm>
            <a:off x="868680" y="37947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build plan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flows through the system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will test and validate it</a:t>
            </a:r>
            <a:endParaRPr lang="en-US" sz="1300"/>
          </a:p>
        </p:txBody>
      </p:sp>
      <p:sp>
        <p:nvSpPr>
          <p:cNvPr id="17" name="Shape 14"/>
          <p:cNvSpPr/>
          <p:nvPr/>
        </p:nvSpPr>
        <p:spPr>
          <a:xfrm>
            <a:off x="868680" y="5029200"/>
            <a:ext cx="384048" cy="384048"/>
          </a:xfrm>
          <a:prstGeom prst="ellipse">
            <a:avLst/>
          </a:prstGeom>
          <a:solidFill>
            <a:srgbClr val="070C18"/>
          </a:solidFill>
          <a:ln w="19050">
            <a:solidFill>
              <a:srgbClr val="35D6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5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/>
          </a:p>
        </p:txBody>
      </p:sp>
      <p:sp>
        <p:nvSpPr>
          <p:cNvPr id="19" name="Text 16"/>
          <p:cNvSpPr txBox="1"/>
          <p:nvPr/>
        </p:nvSpPr>
        <p:spPr>
          <a:xfrm>
            <a:off x="1371600" y="50566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9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DEMO</a:t>
            </a:r>
            <a:endParaRPr lang="en-US" sz="1500"/>
          </a:p>
        </p:txBody>
      </p:sp>
      <p:sp>
        <p:nvSpPr>
          <p:cNvPr id="20" name="Text 17"/>
          <p:cNvSpPr txBox="1"/>
          <p:nvPr/>
        </p:nvSpPr>
        <p:spPr>
          <a:xfrm>
            <a:off x="868680" y="5532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that will be working by demo time</a:t>
            </a:r>
            <a:endParaRPr lang="en-US" sz="1300"/>
          </a:p>
        </p:txBody>
      </p:sp>
      <p:sp>
        <p:nvSpPr>
          <p:cNvPr id="21" name="Shape 18"/>
          <p:cNvSpPr/>
          <p:nvPr/>
        </p:nvSpPr>
        <p:spPr>
          <a:xfrm>
            <a:off x="5715000" y="1097280"/>
            <a:ext cx="5897880" cy="4937760"/>
          </a:xfrm>
          <a:prstGeom prst="roundRect">
            <a:avLst>
              <a:gd name="adj" fmla="val 1111"/>
            </a:avLst>
          </a:prstGeom>
          <a:solidFill>
            <a:srgbClr val="0D1526"/>
          </a:solidFill>
          <a:ln w="12700">
            <a:solidFill>
              <a:srgbClr val="27364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035040" y="137160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/ FLOW DIAGRAM</a:t>
            </a:r>
            <a:endParaRPr lang="en-US" sz="1100"/>
          </a:p>
        </p:txBody>
      </p:sp>
      <p:sp>
        <p:nvSpPr>
          <p:cNvPr id="23" name="Shape 20"/>
          <p:cNvSpPr/>
          <p:nvPr/>
        </p:nvSpPr>
        <p:spPr>
          <a:xfrm>
            <a:off x="6035040" y="1783080"/>
            <a:ext cx="5257800" cy="3931920"/>
          </a:xfrm>
          <a:prstGeom prst="roundRect">
            <a:avLst>
              <a:gd name="adj" fmla="val 930"/>
            </a:avLst>
          </a:prstGeom>
          <a:solidFill>
            <a:srgbClr val="121C30"/>
          </a:solidFill>
          <a:ln w="12700">
            <a:solidFill>
              <a:srgbClr val="35D6F0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6492240" y="342900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your flow chart, system architecture, wireframe or working prototype screenshot in this frame.</a:t>
            </a:r>
            <a:endParaRPr lang="en-US"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01752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121C30"/>
          </a:solidFill>
          <a:ln w="12700">
            <a:solidFill>
              <a:srgbClr val="2736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0175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200"/>
          </a:p>
        </p:txBody>
      </p:sp>
      <p:sp>
        <p:nvSpPr>
          <p:cNvPr id="4" name="Text 2"/>
          <p:cNvSpPr txBox="1"/>
          <p:nvPr/>
        </p:nvSpPr>
        <p:spPr>
          <a:xfrm>
            <a:off x="2834640" y="25603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100">
                <a:solidFill>
                  <a:srgbClr val="E9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AND VIABILITY</a:t>
            </a:r>
            <a:endParaRPr lang="en-US" sz="28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310896"/>
            <a:ext cx="1417320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>
                <a:solidFill>
                  <a:srgbClr val="6E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× AI  ·  THE DIGITAL MISSION 2026  ·  PRESIDENCY UNIVERSITY × ISACA BANGALORE CHAPTER</a:t>
            </a:r>
            <a:endParaRPr lang="en-US" sz="900"/>
          </a:p>
        </p:txBody>
      </p:sp>
      <p:sp>
        <p:nvSpPr>
          <p:cNvPr id="7" name="Text 4"/>
          <p:cNvSpPr txBox="1"/>
          <p:nvPr/>
        </p:nvSpPr>
        <p:spPr>
          <a:xfrm>
            <a:off x="1115568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35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  <p:sp>
        <p:nvSpPr>
          <p:cNvPr id="8" name="Shape 5"/>
          <p:cNvSpPr/>
          <p:nvPr/>
        </p:nvSpPr>
        <p:spPr>
          <a:xfrm>
            <a:off x="548640" y="1143000"/>
            <a:ext cx="3520440" cy="2880360"/>
          </a:xfrm>
          <a:prstGeom prst="roundRect">
            <a:avLst>
              <a:gd name="adj" fmla="val 1905"/>
            </a:avLst>
          </a:prstGeom>
          <a:solidFill>
            <a:srgbClr val="121C30"/>
          </a:solidFill>
          <a:ln w="12700">
            <a:solidFill>
              <a:srgbClr val="27364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14173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50">
                <a:solidFill>
                  <a:srgbClr val="35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1500"/>
          </a:p>
        </p:txBody>
      </p:sp>
      <p:sp>
        <p:nvSpPr>
          <p:cNvPr id="10" name="Text 7"/>
          <p:cNvSpPr txBox="1"/>
          <p:nvPr/>
        </p:nvSpPr>
        <p:spPr>
          <a:xfrm>
            <a:off x="868680" y="192024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be built in one day?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and resources on hand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compute you can access</a:t>
            </a:r>
            <a:endParaRPr lang="en-US" sz="1300"/>
          </a:p>
        </p:txBody>
      </p:sp>
      <p:sp>
        <p:nvSpPr>
          <p:cNvPr id="11" name="Shape 8"/>
          <p:cNvSpPr/>
          <p:nvPr/>
        </p:nvSpPr>
        <p:spPr>
          <a:xfrm>
            <a:off x="4343400" y="1143000"/>
            <a:ext cx="3520440" cy="2880360"/>
          </a:xfrm>
          <a:prstGeom prst="roundRect">
            <a:avLst>
              <a:gd name="adj" fmla="val 1905"/>
            </a:avLst>
          </a:prstGeom>
          <a:solidFill>
            <a:srgbClr val="121C30"/>
          </a:solidFill>
          <a:ln w="12700">
            <a:solidFill>
              <a:srgbClr val="2736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63440" y="14173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5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RISKS</a:t>
            </a:r>
            <a:endParaRPr lang="en-US" sz="1500"/>
          </a:p>
        </p:txBody>
      </p:sp>
      <p:sp>
        <p:nvSpPr>
          <p:cNvPr id="13" name="Text 10"/>
          <p:cNvSpPr txBox="1"/>
          <p:nvPr/>
        </p:nvSpPr>
        <p:spPr>
          <a:xfrm>
            <a:off x="4663440" y="192024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blockers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privacy or compliance risk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and performance limits</a:t>
            </a:r>
            <a:endParaRPr lang="en-US" sz="1300"/>
          </a:p>
        </p:txBody>
      </p:sp>
      <p:sp>
        <p:nvSpPr>
          <p:cNvPr id="14" name="Shape 11"/>
          <p:cNvSpPr/>
          <p:nvPr/>
        </p:nvSpPr>
        <p:spPr>
          <a:xfrm>
            <a:off x="8138160" y="1143000"/>
            <a:ext cx="3520440" cy="2880360"/>
          </a:xfrm>
          <a:prstGeom prst="roundRect">
            <a:avLst>
              <a:gd name="adj" fmla="val 1905"/>
            </a:avLst>
          </a:prstGeom>
          <a:solidFill>
            <a:srgbClr val="121C30"/>
          </a:solidFill>
          <a:ln w="12700">
            <a:solidFill>
              <a:srgbClr val="27364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58200" y="14173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50">
                <a:solidFill>
                  <a:srgbClr val="35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1500"/>
          </a:p>
        </p:txBody>
      </p:sp>
      <p:sp>
        <p:nvSpPr>
          <p:cNvPr id="16" name="Text 13"/>
          <p:cNvSpPr txBox="1"/>
          <p:nvPr/>
        </p:nvSpPr>
        <p:spPr>
          <a:xfrm>
            <a:off x="8458200" y="192024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Workaround for each risk above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plan if a piece fails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cut first under time pressure</a:t>
            </a:r>
            <a:endParaRPr lang="en-US" sz="1300"/>
          </a:p>
        </p:txBody>
      </p:sp>
      <p:sp>
        <p:nvSpPr>
          <p:cNvPr id="17" name="Shape 14"/>
          <p:cNvSpPr/>
          <p:nvPr/>
        </p:nvSpPr>
        <p:spPr>
          <a:xfrm>
            <a:off x="548640" y="4297680"/>
            <a:ext cx="11064240" cy="1737360"/>
          </a:xfrm>
          <a:prstGeom prst="roundRect">
            <a:avLst>
              <a:gd name="adj" fmla="val 3158"/>
            </a:avLst>
          </a:prstGeom>
          <a:solidFill>
            <a:srgbClr val="0D1526"/>
          </a:solidFill>
          <a:ln w="12700">
            <a:solidFill>
              <a:srgbClr val="27364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4400" y="45262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ONE-DAY EXECUTION PLAN</a:t>
            </a:r>
            <a:endParaRPr lang="en-US" sz="1100"/>
          </a:p>
        </p:txBody>
      </p:sp>
      <p:sp>
        <p:nvSpPr>
          <p:cNvPr id="19" name="Shape 16"/>
          <p:cNvSpPr/>
          <p:nvPr/>
        </p:nvSpPr>
        <p:spPr>
          <a:xfrm>
            <a:off x="914400" y="493776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121C30"/>
          </a:solidFill>
          <a:ln w="12700">
            <a:solidFill>
              <a:srgbClr val="27364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43000" y="50292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35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/>
          </a:p>
        </p:txBody>
      </p:sp>
      <p:sp>
        <p:nvSpPr>
          <p:cNvPr id="21" name="Text 18"/>
          <p:cNvSpPr txBox="1"/>
          <p:nvPr/>
        </p:nvSpPr>
        <p:spPr>
          <a:xfrm>
            <a:off x="1143000" y="5257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explore — what your team ships here</a:t>
            </a:r>
            <a:endParaRPr lang="en-US" sz="1100"/>
          </a:p>
        </p:txBody>
      </p:sp>
      <p:sp>
        <p:nvSpPr>
          <p:cNvPr id="22" name="Text 19"/>
          <p:cNvSpPr txBox="1"/>
          <p:nvPr/>
        </p:nvSpPr>
        <p:spPr>
          <a:xfrm>
            <a:off x="4069080" y="493776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27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/>
          </a:p>
        </p:txBody>
      </p:sp>
      <p:sp>
        <p:nvSpPr>
          <p:cNvPr id="23" name="Shape 20"/>
          <p:cNvSpPr/>
          <p:nvPr/>
        </p:nvSpPr>
        <p:spPr>
          <a:xfrm>
            <a:off x="4434840" y="493776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121C30"/>
          </a:solidFill>
          <a:ln w="12700">
            <a:solidFill>
              <a:srgbClr val="27364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663440" y="50292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35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/>
          </a:p>
        </p:txBody>
      </p:sp>
      <p:sp>
        <p:nvSpPr>
          <p:cNvPr id="25" name="Text 22"/>
          <p:cNvSpPr txBox="1"/>
          <p:nvPr/>
        </p:nvSpPr>
        <p:spPr>
          <a:xfrm>
            <a:off x="4663440" y="5257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evaluation — what your team ships here</a:t>
            </a:r>
            <a:endParaRPr lang="en-US" sz="1100"/>
          </a:p>
        </p:txBody>
      </p:sp>
      <p:sp>
        <p:nvSpPr>
          <p:cNvPr id="26" name="Text 23"/>
          <p:cNvSpPr txBox="1"/>
          <p:nvPr/>
        </p:nvSpPr>
        <p:spPr>
          <a:xfrm>
            <a:off x="7589520" y="493776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27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/>
          </a:p>
        </p:txBody>
      </p:sp>
      <p:sp>
        <p:nvSpPr>
          <p:cNvPr id="27" name="Shape 24"/>
          <p:cNvSpPr/>
          <p:nvPr/>
        </p:nvSpPr>
        <p:spPr>
          <a:xfrm>
            <a:off x="7955280" y="493776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121C30"/>
          </a:solidFill>
          <a:ln w="12700">
            <a:solidFill>
              <a:srgbClr val="27364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183880" y="50292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35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/>
          </a:p>
        </p:txBody>
      </p:sp>
      <p:sp>
        <p:nvSpPr>
          <p:cNvPr id="29" name="Text 26"/>
          <p:cNvSpPr txBox="1"/>
          <p:nvPr/>
        </p:nvSpPr>
        <p:spPr>
          <a:xfrm>
            <a:off x="8183880" y="5257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jury pitch — what your team ships here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01752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121C30"/>
          </a:solidFill>
          <a:ln w="12700">
            <a:solidFill>
              <a:srgbClr val="2736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0175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200"/>
          </a:p>
        </p:txBody>
      </p:sp>
      <p:sp>
        <p:nvSpPr>
          <p:cNvPr id="4" name="Text 2"/>
          <p:cNvSpPr txBox="1"/>
          <p:nvPr/>
        </p:nvSpPr>
        <p:spPr>
          <a:xfrm>
            <a:off x="2834640" y="25603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100">
                <a:solidFill>
                  <a:srgbClr val="E9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BENEFITS</a:t>
            </a:r>
            <a:endParaRPr lang="en-US" sz="28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310896"/>
            <a:ext cx="1417320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>
                <a:solidFill>
                  <a:srgbClr val="6E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× AI  ·  THE DIGITAL MISSION 2026  ·  PRESIDENCY UNIVERSITY × ISACA BANGALORE CHAPTER</a:t>
            </a:r>
            <a:endParaRPr lang="en-US" sz="900"/>
          </a:p>
        </p:txBody>
      </p:sp>
      <p:sp>
        <p:nvSpPr>
          <p:cNvPr id="7" name="Text 4"/>
          <p:cNvSpPr txBox="1"/>
          <p:nvPr/>
        </p:nvSpPr>
        <p:spPr>
          <a:xfrm>
            <a:off x="1115568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35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  <p:sp>
        <p:nvSpPr>
          <p:cNvPr id="8" name="Shape 5"/>
          <p:cNvSpPr/>
          <p:nvPr/>
        </p:nvSpPr>
        <p:spPr>
          <a:xfrm>
            <a:off x="548640" y="1188720"/>
            <a:ext cx="4114800" cy="1417320"/>
          </a:xfrm>
          <a:prstGeom prst="roundRect">
            <a:avLst>
              <a:gd name="adj" fmla="val 3871"/>
            </a:avLst>
          </a:prstGeom>
          <a:solidFill>
            <a:srgbClr val="121C30"/>
          </a:solidFill>
          <a:ln w="12700">
            <a:solidFill>
              <a:srgbClr val="27364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13716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35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4000"/>
          </a:p>
        </p:txBody>
      </p:sp>
      <p:sp>
        <p:nvSpPr>
          <p:cNvPr id="10" name="Text 7"/>
          <p:cNvSpPr txBox="1"/>
          <p:nvPr/>
        </p:nvSpPr>
        <p:spPr>
          <a:xfrm>
            <a:off x="2240280" y="1508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/ systems protected</a:t>
            </a:r>
            <a:endParaRPr lang="en-US" sz="1200"/>
          </a:p>
        </p:txBody>
      </p:sp>
      <p:sp>
        <p:nvSpPr>
          <p:cNvPr id="11" name="Shape 8"/>
          <p:cNvSpPr/>
          <p:nvPr/>
        </p:nvSpPr>
        <p:spPr>
          <a:xfrm>
            <a:off x="548640" y="2834640"/>
            <a:ext cx="4114800" cy="1417320"/>
          </a:xfrm>
          <a:prstGeom prst="roundRect">
            <a:avLst>
              <a:gd name="adj" fmla="val 3871"/>
            </a:avLst>
          </a:prstGeom>
          <a:solidFill>
            <a:srgbClr val="121C30"/>
          </a:solidFill>
          <a:ln w="12700">
            <a:solidFill>
              <a:srgbClr val="2736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8680" y="30175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35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4000"/>
          </a:p>
        </p:txBody>
      </p:sp>
      <p:sp>
        <p:nvSpPr>
          <p:cNvPr id="13" name="Text 10"/>
          <p:cNvSpPr txBox="1"/>
          <p:nvPr/>
        </p:nvSpPr>
        <p:spPr>
          <a:xfrm>
            <a:off x="2240280" y="3154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caught or hours saved</a:t>
            </a:r>
            <a:endParaRPr lang="en-US" sz="1200"/>
          </a:p>
        </p:txBody>
      </p:sp>
      <p:sp>
        <p:nvSpPr>
          <p:cNvPr id="14" name="Shape 11"/>
          <p:cNvSpPr/>
          <p:nvPr/>
        </p:nvSpPr>
        <p:spPr>
          <a:xfrm>
            <a:off x="548640" y="4480560"/>
            <a:ext cx="4114800" cy="1417320"/>
          </a:xfrm>
          <a:prstGeom prst="roundRect">
            <a:avLst>
              <a:gd name="adj" fmla="val 3871"/>
            </a:avLst>
          </a:prstGeom>
          <a:solidFill>
            <a:srgbClr val="121C30"/>
          </a:solidFill>
          <a:ln w="12700">
            <a:solidFill>
              <a:srgbClr val="27364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46634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35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4000"/>
          </a:p>
        </p:txBody>
      </p:sp>
      <p:sp>
        <p:nvSpPr>
          <p:cNvPr id="16" name="Text 13"/>
          <p:cNvSpPr txBox="1"/>
          <p:nvPr/>
        </p:nvSpPr>
        <p:spPr>
          <a:xfrm>
            <a:off x="2240280" y="4800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or effort reduced</a:t>
            </a:r>
            <a:endParaRPr lang="en-US" sz="1200"/>
          </a:p>
        </p:txBody>
      </p:sp>
      <p:sp>
        <p:nvSpPr>
          <p:cNvPr id="17" name="Shape 14"/>
          <p:cNvSpPr/>
          <p:nvPr/>
        </p:nvSpPr>
        <p:spPr>
          <a:xfrm>
            <a:off x="4937760" y="1188720"/>
            <a:ext cx="6675120" cy="4846320"/>
          </a:xfrm>
          <a:prstGeom prst="roundRect">
            <a:avLst>
              <a:gd name="adj" fmla="val 1132"/>
            </a:avLst>
          </a:prstGeom>
          <a:solidFill>
            <a:srgbClr val="121C30"/>
          </a:solidFill>
          <a:ln w="12700">
            <a:solidFill>
              <a:srgbClr val="27364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303520" y="14630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9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HELPS</a:t>
            </a:r>
            <a:endParaRPr lang="en-US" sz="1500"/>
          </a:p>
        </p:txBody>
      </p:sp>
      <p:sp>
        <p:nvSpPr>
          <p:cNvPr id="19" name="Text 16"/>
          <p:cNvSpPr txBox="1"/>
          <p:nvPr/>
        </p:nvSpPr>
        <p:spPr>
          <a:xfrm>
            <a:off x="5303520" y="187452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target audience and their pain today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beneficiaries</a:t>
            </a:r>
            <a:endParaRPr lang="en-US" sz="1300"/>
          </a:p>
        </p:txBody>
      </p:sp>
      <p:sp>
        <p:nvSpPr>
          <p:cNvPr id="20" name="Text 17"/>
          <p:cNvSpPr txBox="1"/>
          <p:nvPr/>
        </p:nvSpPr>
        <p:spPr>
          <a:xfrm>
            <a:off x="5303520" y="3063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9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1500"/>
          </a:p>
        </p:txBody>
      </p:sp>
      <p:sp>
        <p:nvSpPr>
          <p:cNvPr id="21" name="Text 18"/>
          <p:cNvSpPr txBox="1"/>
          <p:nvPr/>
        </p:nvSpPr>
        <p:spPr>
          <a:xfrm>
            <a:off x="5303520" y="3474720"/>
            <a:ext cx="5943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what attack surface shrinks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Social: who is safer or better served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Economic: money, time or headcount saved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/ operational, if relevant</a:t>
            </a:r>
            <a:endParaRPr lang="en-US" sz="1300"/>
          </a:p>
        </p:txBody>
      </p:sp>
      <p:sp>
        <p:nvSpPr>
          <p:cNvPr id="22" name="Text 19"/>
          <p:cNvSpPr txBox="1"/>
          <p:nvPr/>
        </p:nvSpPr>
        <p:spPr>
          <a:xfrm>
            <a:off x="5303520" y="54864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E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placeholder numbers for real estimates and say where they came from.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01752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121C30"/>
          </a:solidFill>
          <a:ln w="12700">
            <a:solidFill>
              <a:srgbClr val="2736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0175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200"/>
          </a:p>
        </p:txBody>
      </p:sp>
      <p:sp>
        <p:nvSpPr>
          <p:cNvPr id="4" name="Text 2"/>
          <p:cNvSpPr txBox="1"/>
          <p:nvPr/>
        </p:nvSpPr>
        <p:spPr>
          <a:xfrm>
            <a:off x="2834640" y="25603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100">
                <a:solidFill>
                  <a:srgbClr val="E9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REFERENCES</a:t>
            </a:r>
            <a:endParaRPr lang="en-US" sz="28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310896"/>
            <a:ext cx="1417320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>
                <a:solidFill>
                  <a:srgbClr val="6E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× AI  ·  THE DIGITAL MISSION 2026  ·  PRESIDENCY UNIVERSITY × ISACA BANGALORE CHAPTER</a:t>
            </a:r>
            <a:endParaRPr lang="en-US" sz="900"/>
          </a:p>
        </p:txBody>
      </p:sp>
      <p:sp>
        <p:nvSpPr>
          <p:cNvPr id="7" name="Text 4"/>
          <p:cNvSpPr txBox="1"/>
          <p:nvPr/>
        </p:nvSpPr>
        <p:spPr>
          <a:xfrm>
            <a:off x="1115568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35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/>
          </a:p>
        </p:txBody>
      </p:sp>
      <p:sp>
        <p:nvSpPr>
          <p:cNvPr id="8" name="Shape 5"/>
          <p:cNvSpPr/>
          <p:nvPr/>
        </p:nvSpPr>
        <p:spPr>
          <a:xfrm>
            <a:off x="548640" y="1188720"/>
            <a:ext cx="6903720" cy="4846320"/>
          </a:xfrm>
          <a:prstGeom prst="roundRect">
            <a:avLst>
              <a:gd name="adj" fmla="val 1132"/>
            </a:avLst>
          </a:prstGeom>
          <a:solidFill>
            <a:srgbClr val="121C30"/>
          </a:solidFill>
          <a:ln w="12700">
            <a:solidFill>
              <a:srgbClr val="27364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146304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9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BEHIND THE IDEA</a:t>
            </a:r>
            <a:endParaRPr lang="en-US" sz="1500"/>
          </a:p>
        </p:txBody>
      </p:sp>
      <p:sp>
        <p:nvSpPr>
          <p:cNvPr id="10" name="Text 7"/>
          <p:cNvSpPr txBox="1"/>
          <p:nvPr/>
        </p:nvSpPr>
        <p:spPr>
          <a:xfrm>
            <a:off x="914400" y="1920240"/>
            <a:ext cx="6172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Papers, CVEs, threat reports or standards you referenced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and their licence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libraries or APIs — with links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you studied and where they fall short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prior work by your team on this problem</a:t>
            </a:r>
            <a:endParaRPr lang="en-US" sz="1300"/>
          </a:p>
        </p:txBody>
      </p:sp>
      <p:sp>
        <p:nvSpPr>
          <p:cNvPr id="11" name="Text 8"/>
          <p:cNvSpPr txBox="1"/>
          <p:nvPr/>
        </p:nvSpPr>
        <p:spPr>
          <a:xfrm>
            <a:off x="914400" y="416052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9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 &amp; DATA HANDLING</a:t>
            </a:r>
            <a:endParaRPr lang="en-US" sz="1500"/>
          </a:p>
        </p:txBody>
      </p:sp>
      <p:sp>
        <p:nvSpPr>
          <p:cNvPr id="12" name="Text 9"/>
          <p:cNvSpPr txBox="1"/>
          <p:nvPr/>
        </p:nvSpPr>
        <p:spPr>
          <a:xfrm>
            <a:off x="914400" y="4617720"/>
            <a:ext cx="6172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your data comes from and how it is stored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could be harmed if the system gets it wrong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Safeguards you have built in</a:t>
            </a:r>
            <a:endParaRPr lang="en-US" sz="1300"/>
          </a:p>
        </p:txBody>
      </p:sp>
      <p:sp>
        <p:nvSpPr>
          <p:cNvPr id="13" name="Shape 10"/>
          <p:cNvSpPr/>
          <p:nvPr/>
        </p:nvSpPr>
        <p:spPr>
          <a:xfrm>
            <a:off x="7726680" y="1188720"/>
            <a:ext cx="3886200" cy="4846320"/>
          </a:xfrm>
          <a:prstGeom prst="roundRect">
            <a:avLst>
              <a:gd name="adj" fmla="val 1412"/>
            </a:avLst>
          </a:prstGeom>
          <a:solidFill>
            <a:srgbClr val="0D1526"/>
          </a:solidFill>
          <a:ln w="12700">
            <a:solidFill>
              <a:srgbClr val="27364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046720" y="1463040"/>
            <a:ext cx="384048" cy="384048"/>
          </a:xfrm>
          <a:prstGeom prst="ellipse">
            <a:avLst/>
          </a:prstGeom>
          <a:solidFill>
            <a:srgbClr val="070C18"/>
          </a:solidFill>
          <a:ln w="19050">
            <a:solidFill>
              <a:srgbClr val="F2C14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4672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300"/>
          </a:p>
        </p:txBody>
      </p:sp>
      <p:sp>
        <p:nvSpPr>
          <p:cNvPr id="16" name="Text 13"/>
          <p:cNvSpPr txBox="1"/>
          <p:nvPr/>
        </p:nvSpPr>
        <p:spPr>
          <a:xfrm>
            <a:off x="8046720" y="2011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SUBMIT</a:t>
            </a:r>
            <a:endParaRPr lang="en-US" sz="1400"/>
          </a:p>
        </p:txBody>
      </p:sp>
      <p:sp>
        <p:nvSpPr>
          <p:cNvPr id="17" name="Text 14"/>
          <p:cNvSpPr txBox="1"/>
          <p:nvPr/>
        </p:nvSpPr>
        <p:spPr>
          <a:xfrm>
            <a:off x="8046720" y="2468880"/>
            <a:ext cx="3246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link opens and is public</a:t>
            </a:r>
            <a:endParaRPr lang="en-US" sz="12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copied without credit</a:t>
            </a:r>
            <a:endParaRPr lang="en-US" sz="12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on every slide</a:t>
            </a:r>
            <a:endParaRPr lang="en-US" sz="12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as PDF as well as PPT</a:t>
            </a:r>
            <a:endParaRPr lang="en-US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01752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121C30"/>
          </a:solidFill>
          <a:ln w="12700">
            <a:solidFill>
              <a:srgbClr val="2736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0175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200"/>
          </a:p>
        </p:txBody>
      </p:sp>
      <p:sp>
        <p:nvSpPr>
          <p:cNvPr id="4" name="Text 2"/>
          <p:cNvSpPr txBox="1"/>
          <p:nvPr/>
        </p:nvSpPr>
        <p:spPr>
          <a:xfrm>
            <a:off x="2834640" y="25603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100">
                <a:solidFill>
                  <a:srgbClr val="E9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THIS TEMPLATE</a:t>
            </a:r>
            <a:endParaRPr lang="en-US" sz="28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310896"/>
            <a:ext cx="1417320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>
                <a:solidFill>
                  <a:srgbClr val="6E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× AI  ·  THE DIGITAL MISSION 2026  ·  PRESIDENCY UNIVERSITY × ISACA BANGALORE CHAPTER</a:t>
            </a:r>
            <a:endParaRPr lang="en-US" sz="900"/>
          </a:p>
        </p:txBody>
      </p:sp>
      <p:sp>
        <p:nvSpPr>
          <p:cNvPr id="7" name="Text 4"/>
          <p:cNvSpPr txBox="1"/>
          <p:nvPr/>
        </p:nvSpPr>
        <p:spPr>
          <a:xfrm>
            <a:off x="1115568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35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/>
          </a:p>
        </p:txBody>
      </p:sp>
      <p:sp>
        <p:nvSpPr>
          <p:cNvPr id="8" name="Shape 5"/>
          <p:cNvSpPr/>
          <p:nvPr/>
        </p:nvSpPr>
        <p:spPr>
          <a:xfrm>
            <a:off x="548640" y="1097280"/>
            <a:ext cx="11064240" cy="3977640"/>
          </a:xfrm>
          <a:prstGeom prst="roundRect">
            <a:avLst>
              <a:gd name="adj" fmla="val 1379"/>
            </a:avLst>
          </a:prstGeom>
          <a:solidFill>
            <a:srgbClr val="121C30"/>
          </a:solidFill>
          <a:ln w="12700">
            <a:solidFill>
              <a:srgbClr val="27364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1417320"/>
            <a:ext cx="384048" cy="384048"/>
          </a:xfrm>
          <a:prstGeom prst="ellipse">
            <a:avLst/>
          </a:prstGeom>
          <a:solidFill>
            <a:srgbClr val="070C18"/>
          </a:solidFill>
          <a:ln w="19050">
            <a:solidFill>
              <a:srgbClr val="35D6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44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5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/>
          </a:p>
        </p:txBody>
      </p:sp>
      <p:sp>
        <p:nvSpPr>
          <p:cNvPr id="11" name="Text 8"/>
          <p:cNvSpPr txBox="1"/>
          <p:nvPr/>
        </p:nvSpPr>
        <p:spPr>
          <a:xfrm>
            <a:off x="1508760" y="141732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E9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to six slides maximum, title slide included — delete this one before you submit.</a:t>
            </a:r>
            <a:endParaRPr lang="en-US" sz="1350"/>
          </a:p>
        </p:txBody>
      </p:sp>
      <p:sp>
        <p:nvSpPr>
          <p:cNvPr id="12" name="Shape 9"/>
          <p:cNvSpPr/>
          <p:nvPr/>
        </p:nvSpPr>
        <p:spPr>
          <a:xfrm>
            <a:off x="914400" y="1920240"/>
            <a:ext cx="384048" cy="384048"/>
          </a:xfrm>
          <a:prstGeom prst="ellipse">
            <a:avLst/>
          </a:prstGeom>
          <a:solidFill>
            <a:srgbClr val="070C18"/>
          </a:solidFill>
          <a:ln w="19050">
            <a:solidFill>
              <a:srgbClr val="35D6F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5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/>
          </a:p>
        </p:txBody>
      </p:sp>
      <p:sp>
        <p:nvSpPr>
          <p:cNvPr id="14" name="Text 11"/>
          <p:cNvSpPr txBox="1"/>
          <p:nvPr/>
        </p:nvSpPr>
        <p:spPr>
          <a:xfrm>
            <a:off x="1508760" y="192024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E9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Points, diagrams and infographics only. No paragraphs.</a:t>
            </a:r>
            <a:endParaRPr lang="en-US" sz="1350"/>
          </a:p>
        </p:txBody>
      </p:sp>
      <p:sp>
        <p:nvSpPr>
          <p:cNvPr id="15" name="Shape 12"/>
          <p:cNvSpPr/>
          <p:nvPr/>
        </p:nvSpPr>
        <p:spPr>
          <a:xfrm>
            <a:off x="914400" y="2423160"/>
            <a:ext cx="384048" cy="384048"/>
          </a:xfrm>
          <a:prstGeom prst="ellipse">
            <a:avLst/>
          </a:prstGeom>
          <a:solidFill>
            <a:srgbClr val="070C18"/>
          </a:solidFill>
          <a:ln w="19050">
            <a:solidFill>
              <a:srgbClr val="35D6F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440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5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/>
          </a:p>
        </p:txBody>
      </p:sp>
      <p:sp>
        <p:nvSpPr>
          <p:cNvPr id="17" name="Text 14"/>
          <p:cNvSpPr txBox="1"/>
          <p:nvPr/>
        </p:nvSpPr>
        <p:spPr>
          <a:xfrm>
            <a:off x="1508760" y="242316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E9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every explanation precise and easy to read from the back of the room.</a:t>
            </a:r>
            <a:endParaRPr lang="en-US" sz="1350"/>
          </a:p>
        </p:txBody>
      </p:sp>
      <p:sp>
        <p:nvSpPr>
          <p:cNvPr id="18" name="Shape 15"/>
          <p:cNvSpPr/>
          <p:nvPr/>
        </p:nvSpPr>
        <p:spPr>
          <a:xfrm>
            <a:off x="914400" y="2926080"/>
            <a:ext cx="384048" cy="384048"/>
          </a:xfrm>
          <a:prstGeom prst="ellipse">
            <a:avLst/>
          </a:prstGeom>
          <a:solidFill>
            <a:srgbClr val="070C18"/>
          </a:solidFill>
          <a:ln w="19050">
            <a:solidFill>
              <a:srgbClr val="35D6F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440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5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/>
          </a:p>
        </p:txBody>
      </p:sp>
      <p:sp>
        <p:nvSpPr>
          <p:cNvPr id="20" name="Text 17"/>
          <p:cNvSpPr txBox="1"/>
          <p:nvPr/>
        </p:nvSpPr>
        <p:spPr>
          <a:xfrm>
            <a:off x="1508760" y="292608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E9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must be your own and genuinely novel.</a:t>
            </a:r>
            <a:endParaRPr lang="en-US" sz="1350"/>
          </a:p>
        </p:txBody>
      </p:sp>
      <p:sp>
        <p:nvSpPr>
          <p:cNvPr id="21" name="Shape 18"/>
          <p:cNvSpPr/>
          <p:nvPr/>
        </p:nvSpPr>
        <p:spPr>
          <a:xfrm>
            <a:off x="914400" y="3429000"/>
            <a:ext cx="384048" cy="384048"/>
          </a:xfrm>
          <a:prstGeom prst="ellipse">
            <a:avLst/>
          </a:prstGeom>
          <a:solidFill>
            <a:srgbClr val="070C18"/>
          </a:solidFill>
          <a:ln w="19050">
            <a:solidFill>
              <a:srgbClr val="35D6F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440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5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/>
          </a:p>
        </p:txBody>
      </p:sp>
      <p:sp>
        <p:nvSpPr>
          <p:cNvPr id="23" name="Text 20"/>
          <p:cNvSpPr txBox="1"/>
          <p:nvPr/>
        </p:nvSpPr>
        <p:spPr>
          <a:xfrm>
            <a:off x="1508760" y="342900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E9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template as given — do not remove or rename the section headings.</a:t>
            </a:r>
            <a:endParaRPr lang="en-US" sz="1350"/>
          </a:p>
        </p:txBody>
      </p:sp>
      <p:sp>
        <p:nvSpPr>
          <p:cNvPr id="24" name="Shape 21"/>
          <p:cNvSpPr/>
          <p:nvPr/>
        </p:nvSpPr>
        <p:spPr>
          <a:xfrm>
            <a:off x="914400" y="3931920"/>
            <a:ext cx="384048" cy="384048"/>
          </a:xfrm>
          <a:prstGeom prst="ellipse">
            <a:avLst/>
          </a:prstGeom>
          <a:solidFill>
            <a:srgbClr val="070C18"/>
          </a:solidFill>
          <a:ln w="19050">
            <a:solidFill>
              <a:srgbClr val="F2C14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1440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/>
          </a:p>
        </p:txBody>
      </p:sp>
      <p:sp>
        <p:nvSpPr>
          <p:cNvPr id="26" name="Text 23"/>
          <p:cNvSpPr txBox="1"/>
          <p:nvPr/>
        </p:nvSpPr>
        <p:spPr>
          <a:xfrm>
            <a:off x="1508760" y="393192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E9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is compulsory: PPT submission decides the shortlist. Top 15–16 teams get in.</a:t>
            </a:r>
            <a:endParaRPr lang="en-US" sz="1350"/>
          </a:p>
        </p:txBody>
      </p:sp>
      <p:sp>
        <p:nvSpPr>
          <p:cNvPr id="27" name="Shape 24"/>
          <p:cNvSpPr/>
          <p:nvPr/>
        </p:nvSpPr>
        <p:spPr>
          <a:xfrm>
            <a:off x="914400" y="4434840"/>
            <a:ext cx="384048" cy="384048"/>
          </a:xfrm>
          <a:prstGeom prst="ellipse">
            <a:avLst/>
          </a:prstGeom>
          <a:solidFill>
            <a:srgbClr val="070C18"/>
          </a:solidFill>
          <a:ln w="19050">
            <a:solidFill>
              <a:srgbClr val="35D6F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1440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5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/>
          </a:p>
        </p:txBody>
      </p:sp>
      <p:sp>
        <p:nvSpPr>
          <p:cNvPr id="29" name="Text 26"/>
          <p:cNvSpPr txBox="1"/>
          <p:nvPr/>
        </p:nvSpPr>
        <p:spPr>
          <a:xfrm>
            <a:off x="1508760" y="443484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E9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of 3–4 with at least one girl member. Laptops optional, AI usage encouraged.</a:t>
            </a:r>
            <a:endParaRPr lang="en-US" sz="1350"/>
          </a:p>
        </p:txBody>
      </p:sp>
      <p:sp>
        <p:nvSpPr>
          <p:cNvPr id="30" name="Shape 27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0D1526"/>
          </a:solidFill>
          <a:ln w="12700">
            <a:solidFill>
              <a:srgbClr val="27364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14400" y="54406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Doubts? Reach the student coordinators — Mohammed Ameen (9886288433)  ·  Abhishek Budni (+91 81052 78982)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x AI Mini Hackathon 2026 – Idea Submission Template</dc:title>
  <dc:subject>PptxGenJS Presentation</dc:subject>
  <dc:creator>ISACA Bangalore Chapter Student Group – Presidency University</dc:creator>
  <cp:lastModifiedBy>Yukith Joseph</cp:lastModifiedBy>
  <cp:revision>29</cp:revision>
  <dcterms:created xsi:type="dcterms:W3CDTF">2026-09-19T16:14:57Z</dcterms:created>
  <dcterms:modified xsi:type="dcterms:W3CDTF">2026-09-21T10:00:50Z</dcterms:modified>
</cp:coreProperties>
</file>